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88952" cy="54864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Optimal Credit Limit Extension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0C4DE"/>
                </a:solidFill>
                <a:latin typeface="Calibri"/>
              </a:rPr>
              <a:t>Using Multi-Period Lifecycle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71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8AA8CC"/>
                </a:solidFill>
                <a:latin typeface="Calibri"/>
              </a:rPr>
              <a:t>A Risk-Adjusted Profitability Framework for Consumer Lending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526280"/>
            <a:ext cx="5788152" cy="777240"/>
          </a:xfrm>
          <a:prstGeom prst="rect">
            <a:avLst/>
          </a:prstGeom>
          <a:solidFill>
            <a:srgbClr val="14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4617720"/>
            <a:ext cx="56967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Calibri"/>
              </a:rPr>
              <a:t>30,000 Accounts  ·  12 Monthly Campaigns  ·  Monte Carlo + LP Optimisation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580"/>
                </a:solidFill>
                <a:latin typeface="Calibri"/>
              </a:rPr>
              <a:t>Prepared: May 2026  |  Branch: term_ext_lifecycle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The opportunity in numbers — 12-month lifecycle 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194560" cy="141732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2011680" cy="779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$1.41M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39112"/>
            <a:ext cx="2103120" cy="538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  <a:latin typeface="Calibri"/>
              </a:rPr>
              <a:t>Net Profit
(66.6% margin)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0048" y="1188720"/>
            <a:ext cx="2194560" cy="1417320"/>
          </a:xfrm>
          <a:prstGeom prst="rect">
            <a:avLst/>
          </a:prstGeom>
          <a:solidFill>
            <a:srgbClr val="144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1488" y="1298448"/>
            <a:ext cx="2011680" cy="779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0.66%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5768" y="2039112"/>
            <a:ext cx="2103120" cy="538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  <a:latin typeface="Calibri"/>
              </a:rPr>
              <a:t>Portfolio Default Rate
(cap: 5%)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0056" y="1188720"/>
            <a:ext cx="2194560" cy="1417320"/>
          </a:xfrm>
          <a:prstGeom prst="rect">
            <a:avLst/>
          </a:prstGeom>
          <a:solidFill>
            <a:srgbClr val="14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11496" y="1298448"/>
            <a:ext cx="2011680" cy="779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70,317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5776" y="2039112"/>
            <a:ext cx="2103120" cy="538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  <a:latin typeface="Calibri"/>
              </a:rPr>
              <a:t>Extensions Granted
across 12 campaigns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70064" y="1188720"/>
            <a:ext cx="2194560" cy="141732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61504" y="1298448"/>
            <a:ext cx="2011680" cy="779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96.1%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5784" y="2039112"/>
            <a:ext cx="2103120" cy="538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  <a:latin typeface="Calibri"/>
              </a:rPr>
              <a:t>Customers with
≥1 Offer Accepted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20072" y="1188720"/>
            <a:ext cx="2194560" cy="141732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11512" y="1298448"/>
            <a:ext cx="2011680" cy="779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81.8%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65792" y="2039112"/>
            <a:ext cx="2103120" cy="538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  <a:latin typeface="Calibri"/>
              </a:rPr>
              <a:t>Good→Excellent
Migration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788920"/>
            <a:ext cx="11521440" cy="27432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926080"/>
            <a:ext cx="36576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2926080"/>
            <a:ext cx="3657600" cy="73152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306324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A5E"/>
                </a:solidFill>
                <a:latin typeface="Calibri"/>
              </a:rPr>
              <a:t>Risk Well Within Tolerance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3547872"/>
            <a:ext cx="3429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Calibri"/>
              </a:rPr>
              <a:t>Portfolio default rate of 0.66% sits 7.5× below the 5% LP risk cap. Peak campaign-level exposure never exceeded 1.0% across all 12 campaigns.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78808" y="2926080"/>
            <a:ext cx="36576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78808" y="2926080"/>
            <a:ext cx="3657600" cy="73152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88536" y="306324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A5E"/>
                </a:solidFill>
                <a:latin typeface="Calibri"/>
              </a:rPr>
              <a:t>Credit Quality Self-Improves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88536" y="3547872"/>
            <a:ext cx="3429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Calibri"/>
              </a:rPr>
              <a:t>83.8% of Fair-tier customers improved to Good or Excellent by year-end. The re-scoring mechanism creates compounding credit quality gains at no additional cost.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37576" y="2926080"/>
            <a:ext cx="36576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37576" y="2926080"/>
            <a:ext cx="3657600" cy="73152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47304" y="306324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A5E"/>
                </a:solidFill>
                <a:latin typeface="Calibri"/>
              </a:rPr>
              <a:t>LP Optimisation is Conservative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47304" y="3547872"/>
            <a:ext cx="3429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Calibri"/>
              </a:rPr>
              <a:t>The $500M exposure cap was never approached. Risk headroom exists to expand offer volumes to Good and Excellent tiers without constraint violations.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Credit Limit Extension | Lifecycle Simulation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65562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  <a:latin typeface="Calibri"/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Eight-stage pipeline from raw data to actionable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316736" cy="141732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97864"/>
            <a:ext cx="320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9786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3A5E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8191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Data &amp;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965960"/>
            <a:ext cx="12252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DFF"/>
                </a:solidFill>
                <a:latin typeface="Calibri"/>
              </a:rPr>
              <a:t>Borda-count credit score
K-Means → 4 tiers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691640"/>
            <a:ext cx="100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3A5E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73352" y="1143000"/>
            <a:ext cx="1316736" cy="1417320"/>
          </a:xfrm>
          <a:prstGeom prst="rect">
            <a:avLst/>
          </a:prstGeom>
          <a:solidFill>
            <a:srgbClr val="2C4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9072" y="1197864"/>
            <a:ext cx="320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19072" y="119786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4F7C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9072" y="158191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Macro Enrichment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9072" y="1965960"/>
            <a:ext cx="12252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DFF"/>
                </a:solidFill>
                <a:latin typeface="Calibri"/>
              </a:rPr>
              <a:t>FRED API: GDP, Unemployment,
Fed Rate, CPI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1691640"/>
            <a:ext cx="100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3A5E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72384" y="1143000"/>
            <a:ext cx="1316736" cy="1417320"/>
          </a:xfrm>
          <a:prstGeom prst="rect">
            <a:avLst/>
          </a:prstGeom>
          <a:solidFill>
            <a:srgbClr val="1A5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18104" y="1197864"/>
            <a:ext cx="320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18104" y="119786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5F2A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18104" y="158191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Monte Carlo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18104" y="1965960"/>
            <a:ext cx="12252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DFF"/>
                </a:solidFill>
                <a:latin typeface="Calibri"/>
              </a:rPr>
              <a:t>200 scenarios per customer
per campaign (T∼lognorm)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1691640"/>
            <a:ext cx="100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3A5E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71416" y="1143000"/>
            <a:ext cx="1316736" cy="1417320"/>
          </a:xfrm>
          <a:prstGeom prst="rect">
            <a:avLst/>
          </a:prstGeom>
          <a:solidFill>
            <a:srgbClr val="7B6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17136" y="1197864"/>
            <a:ext cx="320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119786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B610A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158191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GBM Uptake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1965960"/>
            <a:ext cx="12252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DFF"/>
                </a:solidFill>
                <a:latin typeface="Calibri"/>
              </a:rPr>
              <a:t>Per-tier acceptance
probability forecast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97296" y="1691640"/>
            <a:ext cx="100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3A5E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70448" y="1143000"/>
            <a:ext cx="1316736" cy="1417320"/>
          </a:xfrm>
          <a:prstGeom prst="rect">
            <a:avLst/>
          </a:prstGeom>
          <a:solidFill>
            <a:srgbClr val="7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16168" y="1197864"/>
            <a:ext cx="320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16168" y="119786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A1414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16168" y="158191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LP Optimisation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16168" y="1965960"/>
            <a:ext cx="12252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DFF"/>
                </a:solidFill>
                <a:latin typeface="Calibri"/>
              </a:rPr>
              <a:t>Binary LP: max profit
s.t. 5% default cap, $500M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96328" y="1691640"/>
            <a:ext cx="100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3A5E"/>
                </a:solidFill>
                <a:latin typeface="Calibr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69480" y="1143000"/>
            <a:ext cx="1316736" cy="141732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0" y="1197864"/>
            <a:ext cx="320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0" y="119786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3A5E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158191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Campaign Loop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1965960"/>
            <a:ext cx="12252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DFF"/>
                </a:solidFill>
                <a:latin typeface="Calibri"/>
              </a:rPr>
              <a:t>×12 monthly campaigns
Offer → Accept → Outcome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1691640"/>
            <a:ext cx="100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3A5E"/>
                </a:solidFill>
                <a:latin typeface="Calibri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68512" y="1143000"/>
            <a:ext cx="1316736" cy="141732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14232" y="1197864"/>
            <a:ext cx="320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14232" y="119786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F37"/>
                </a:solidFill>
                <a:latin typeface="Calibri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14232" y="158191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Re-scoring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14232" y="1965960"/>
            <a:ext cx="12252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DFF"/>
                </a:solidFill>
                <a:latin typeface="Calibri"/>
              </a:rPr>
              <a:t>Feature update after
each outcome → new tier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94392" y="1691640"/>
            <a:ext cx="1005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3A5E"/>
                </a:solidFill>
                <a:latin typeface="Calibri"/>
              </a:rPr>
              <a:t>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67544" y="1143000"/>
            <a:ext cx="1316736" cy="1417320"/>
          </a:xfrm>
          <a:prstGeom prst="rect">
            <a:avLst/>
          </a:prstGeom>
          <a:solidFill>
            <a:srgbClr val="2C4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113264" y="1197864"/>
            <a:ext cx="320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13264" y="119786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4F7C"/>
                </a:solidFill>
                <a:latin typeface="Calibri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3264" y="1581912"/>
            <a:ext cx="1225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Results &amp; Policy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13264" y="1965960"/>
            <a:ext cx="12252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DFF"/>
                </a:solidFill>
                <a:latin typeface="Calibri"/>
              </a:rPr>
              <a:t>Migration matrix,
P&amp;L, sensitivity grid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2788920"/>
            <a:ext cx="11612880" cy="27432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74320" y="2834640"/>
            <a:ext cx="116128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F37"/>
                </a:solidFill>
                <a:latin typeface="Calibri"/>
              </a:rPr>
              <a:t>Key Differentiator vs One-Shot Models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33101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• Explicit Bernoulli acceptance draw per campaign (not implicit uptake weighting)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• Actual lognormal term draw at moment of acceptance — not Monte Carlo mean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• Re-scoring after every outcome: on-time +2pp, early +1pp, default −10pp</a:t>
            </a:r>
          </a:p>
          <a:p>
            <a:pPr algn="l">
              <a:lnSpc>
                <a:spcPts val="16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• Credit state evolves dynamically — LP sees the updated risk each month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Credit Limit Extension | Lifecycle Simulation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65562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  <a:latin typeface="Calibri"/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12-Month Portfolio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Overview dashboard — monthly P&amp;L, volume, state drift, risk</a:t>
            </a:r>
          </a:p>
        </p:txBody>
      </p:sp>
      <p:pic>
        <p:nvPicPr>
          <p:cNvPr id="6" name="Picture 5" descr="lc_biz_01_executiv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11612880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Credit Limit Extension | Lifecycle 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562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  <a:latin typeface="Calibri"/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Performance by Credit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Each tier tells a different risk-return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097280"/>
            <a:ext cx="1371600" cy="493776"/>
          </a:xfrm>
          <a:prstGeom prst="rect">
            <a:avLst/>
          </a:prstGeom>
          <a:solidFill>
            <a:srgbClr val="1C3A5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1133856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627632" y="1097280"/>
            <a:ext cx="1143000" cy="493776"/>
          </a:xfrm>
          <a:prstGeom prst="rect">
            <a:avLst/>
          </a:prstGeom>
          <a:solidFill>
            <a:srgbClr val="1C3A5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73352" y="1133856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Customers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0632" y="1097280"/>
            <a:ext cx="1371600" cy="493776"/>
          </a:xfrm>
          <a:prstGeom prst="rect">
            <a:avLst/>
          </a:prstGeom>
          <a:solidFill>
            <a:srgbClr val="1C3A5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6352" y="1133856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Accept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42232" y="1097280"/>
            <a:ext cx="1691640" cy="493776"/>
          </a:xfrm>
          <a:prstGeom prst="rect">
            <a:avLst/>
          </a:prstGeom>
          <a:solidFill>
            <a:srgbClr val="1C3A5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133856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Avg Profit / Cust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33872" y="1097280"/>
            <a:ext cx="1234440" cy="493776"/>
          </a:xfrm>
          <a:prstGeom prst="rect">
            <a:avLst/>
          </a:prstGeom>
          <a:solidFill>
            <a:srgbClr val="1C3A5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79592" y="1133856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Default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68312" y="1097280"/>
            <a:ext cx="1417320" cy="493776"/>
          </a:xfrm>
          <a:prstGeom prst="rect">
            <a:avLst/>
          </a:prstGeom>
          <a:solidFill>
            <a:srgbClr val="1C3A5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4032" y="1133856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Margin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85632" y="1097280"/>
            <a:ext cx="2103120" cy="493776"/>
          </a:xfrm>
          <a:prstGeom prst="rect">
            <a:avLst/>
          </a:prstGeom>
          <a:solidFill>
            <a:srgbClr val="1C3A5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2" y="113385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Year-End Migration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1591056"/>
            <a:ext cx="1371600" cy="493776"/>
          </a:xfrm>
          <a:prstGeom prst="rect">
            <a:avLst/>
          </a:prstGeom>
          <a:solidFill>
            <a:srgbClr val="D3F5D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" y="162763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F37"/>
                </a:solidFill>
                <a:latin typeface="Calibri"/>
              </a:rPr>
              <a:t>Excellent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27632" y="1591056"/>
            <a:ext cx="1143000" cy="493776"/>
          </a:xfrm>
          <a:prstGeom prst="rect">
            <a:avLst/>
          </a:prstGeom>
          <a:solidFill>
            <a:srgbClr val="D3F5D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73352" y="1627632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6,206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70632" y="1591056"/>
            <a:ext cx="1371600" cy="493776"/>
          </a:xfrm>
          <a:prstGeom prst="rect">
            <a:avLst/>
          </a:prstGeom>
          <a:solidFill>
            <a:srgbClr val="D3F5D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16352" y="162763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79.5%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42232" y="1591056"/>
            <a:ext cx="1691640" cy="493776"/>
          </a:xfrm>
          <a:prstGeom prst="rect">
            <a:avLst/>
          </a:prstGeom>
          <a:solidFill>
            <a:srgbClr val="D3F5D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87952" y="1627632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$68.70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33872" y="1591056"/>
            <a:ext cx="1234440" cy="493776"/>
          </a:xfrm>
          <a:prstGeom prst="rect">
            <a:avLst/>
          </a:prstGeom>
          <a:solidFill>
            <a:srgbClr val="D3F5D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79592" y="1627632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0.17%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68312" y="1591056"/>
            <a:ext cx="1417320" cy="493776"/>
          </a:xfrm>
          <a:prstGeom prst="rect">
            <a:avLst/>
          </a:prstGeom>
          <a:solidFill>
            <a:srgbClr val="D3F5D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14032" y="1627632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90.8%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85632" y="1591056"/>
            <a:ext cx="2103120" cy="493776"/>
          </a:xfrm>
          <a:prstGeom prst="rect">
            <a:avLst/>
          </a:prstGeom>
          <a:solidFill>
            <a:srgbClr val="D3F5D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31352" y="162763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99.5% remain Excellent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084832"/>
            <a:ext cx="1371600" cy="493776"/>
          </a:xfrm>
          <a:prstGeom prst="rect">
            <a:avLst/>
          </a:prstGeom>
          <a:solidFill>
            <a:srgbClr val="CFF0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1752" y="2121408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A44E"/>
                </a:solidFill>
                <a:latin typeface="Calibri"/>
              </a:rPr>
              <a:t>Good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27632" y="2084832"/>
            <a:ext cx="1143000" cy="493776"/>
          </a:xfrm>
          <a:prstGeom prst="rect">
            <a:avLst/>
          </a:prstGeom>
          <a:solidFill>
            <a:srgbClr val="CFF0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73352" y="2121408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9,267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70632" y="2084832"/>
            <a:ext cx="1371600" cy="493776"/>
          </a:xfrm>
          <a:prstGeom prst="rect">
            <a:avLst/>
          </a:prstGeom>
          <a:solidFill>
            <a:srgbClr val="CFF0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16352" y="2121408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74.3%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42232" y="2084832"/>
            <a:ext cx="1691640" cy="493776"/>
          </a:xfrm>
          <a:prstGeom prst="rect">
            <a:avLst/>
          </a:prstGeom>
          <a:solidFill>
            <a:srgbClr val="CFF0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87952" y="2121408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$58.25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33872" y="2084832"/>
            <a:ext cx="1234440" cy="493776"/>
          </a:xfrm>
          <a:prstGeom prst="rect">
            <a:avLst/>
          </a:prstGeom>
          <a:solidFill>
            <a:srgbClr val="CFF0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79592" y="2121408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0.43%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68312" y="2084832"/>
            <a:ext cx="1417320" cy="493776"/>
          </a:xfrm>
          <a:prstGeom prst="rect">
            <a:avLst/>
          </a:prstGeom>
          <a:solidFill>
            <a:srgbClr val="CFF0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14032" y="2121408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76.5%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85632" y="2084832"/>
            <a:ext cx="2103120" cy="493776"/>
          </a:xfrm>
          <a:prstGeom prst="rect">
            <a:avLst/>
          </a:prstGeom>
          <a:solidFill>
            <a:srgbClr val="CFF0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31352" y="212140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81.8% → Excellent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" y="2578608"/>
            <a:ext cx="1371600" cy="493776"/>
          </a:xfrm>
          <a:prstGeom prst="rect">
            <a:avLst/>
          </a:prstGeom>
          <a:solidFill>
            <a:srgbClr val="FFF3B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" y="2615184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B731"/>
                </a:solidFill>
                <a:latin typeface="Calibri"/>
              </a:rPr>
              <a:t>Fair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27632" y="2578608"/>
            <a:ext cx="1143000" cy="493776"/>
          </a:xfrm>
          <a:prstGeom prst="rect">
            <a:avLst/>
          </a:prstGeom>
          <a:solidFill>
            <a:srgbClr val="FFF3B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73352" y="2615184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9,089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70632" y="2578608"/>
            <a:ext cx="1371600" cy="493776"/>
          </a:xfrm>
          <a:prstGeom prst="rect">
            <a:avLst/>
          </a:prstGeom>
          <a:solidFill>
            <a:srgbClr val="FFF3B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16352" y="2615184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61.8%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42232" y="2578608"/>
            <a:ext cx="1691640" cy="493776"/>
          </a:xfrm>
          <a:prstGeom prst="rect">
            <a:avLst/>
          </a:prstGeom>
          <a:solidFill>
            <a:srgbClr val="FFF3B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87952" y="2615184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$40.23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33872" y="2578608"/>
            <a:ext cx="1234440" cy="493776"/>
          </a:xfrm>
          <a:prstGeom prst="rect">
            <a:avLst/>
          </a:prstGeom>
          <a:solidFill>
            <a:srgbClr val="FFF3B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79592" y="2615184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0.88%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68312" y="2578608"/>
            <a:ext cx="1417320" cy="493776"/>
          </a:xfrm>
          <a:prstGeom prst="rect">
            <a:avLst/>
          </a:prstGeom>
          <a:solidFill>
            <a:srgbClr val="FFF3B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14032" y="2615184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55.4%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85632" y="2578608"/>
            <a:ext cx="2103120" cy="493776"/>
          </a:xfrm>
          <a:prstGeom prst="rect">
            <a:avLst/>
          </a:prstGeom>
          <a:solidFill>
            <a:srgbClr val="FFF3B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31352" y="261518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83.8% → Good / Excellent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56032" y="3072384"/>
            <a:ext cx="1371600" cy="493776"/>
          </a:xfrm>
          <a:prstGeom prst="rect">
            <a:avLst/>
          </a:prstGeom>
          <a:solidFill>
            <a:srgbClr val="FFD8D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01752" y="3108960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3131"/>
                </a:solidFill>
                <a:latin typeface="Calibri"/>
              </a:rPr>
              <a:t>Poor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27632" y="3072384"/>
            <a:ext cx="1143000" cy="493776"/>
          </a:xfrm>
          <a:prstGeom prst="rect">
            <a:avLst/>
          </a:prstGeom>
          <a:solidFill>
            <a:srgbClr val="FFD8D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73352" y="3108960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5,438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70632" y="3072384"/>
            <a:ext cx="1371600" cy="493776"/>
          </a:xfrm>
          <a:prstGeom prst="rect">
            <a:avLst/>
          </a:prstGeom>
          <a:solidFill>
            <a:srgbClr val="FFD8D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16352" y="3108960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44.3%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42232" y="3072384"/>
            <a:ext cx="1691640" cy="493776"/>
          </a:xfrm>
          <a:prstGeom prst="rect">
            <a:avLst/>
          </a:prstGeom>
          <a:solidFill>
            <a:srgbClr val="FFD8D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87952" y="3108960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$14.62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33872" y="3072384"/>
            <a:ext cx="1234440" cy="493776"/>
          </a:xfrm>
          <a:prstGeom prst="rect">
            <a:avLst/>
          </a:prstGeom>
          <a:solidFill>
            <a:srgbClr val="FFD8D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79592" y="3108960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1.54%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68312" y="3072384"/>
            <a:ext cx="1417320" cy="493776"/>
          </a:xfrm>
          <a:prstGeom prst="rect">
            <a:avLst/>
          </a:prstGeom>
          <a:solidFill>
            <a:srgbClr val="FFD8D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14032" y="3108960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28.0%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485632" y="3072384"/>
            <a:ext cx="2103120" cy="493776"/>
          </a:xfrm>
          <a:prstGeom prst="rect">
            <a:avLst/>
          </a:prstGeom>
          <a:solidFill>
            <a:srgbClr val="FFD8D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31352" y="310896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30.6% → Good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56032" y="3566160"/>
            <a:ext cx="1371600" cy="493776"/>
          </a:xfrm>
          <a:prstGeom prst="rect">
            <a:avLst/>
          </a:prstGeom>
          <a:solidFill>
            <a:srgbClr val="E9EC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1752" y="3602736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3A40"/>
                </a:solidFill>
                <a:latin typeface="Calibri"/>
              </a:rPr>
              <a:t>Portfolio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627632" y="3566160"/>
            <a:ext cx="1143000" cy="493776"/>
          </a:xfrm>
          <a:prstGeom prst="rect">
            <a:avLst/>
          </a:prstGeom>
          <a:solidFill>
            <a:srgbClr val="E9EC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673352" y="3602736"/>
            <a:ext cx="1051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30,000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70632" y="3566160"/>
            <a:ext cx="1371600" cy="493776"/>
          </a:xfrm>
          <a:prstGeom prst="rect">
            <a:avLst/>
          </a:prstGeom>
          <a:solidFill>
            <a:srgbClr val="E9EC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816352" y="3602736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65.1%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42232" y="3566160"/>
            <a:ext cx="1691640" cy="493776"/>
          </a:xfrm>
          <a:prstGeom prst="rect">
            <a:avLst/>
          </a:prstGeom>
          <a:solidFill>
            <a:srgbClr val="E9EC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87952" y="3602736"/>
            <a:ext cx="1600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$47.04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833872" y="3566160"/>
            <a:ext cx="1234440" cy="493776"/>
          </a:xfrm>
          <a:prstGeom prst="rect">
            <a:avLst/>
          </a:prstGeom>
          <a:solidFill>
            <a:srgbClr val="E9EC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879592" y="3602736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0.66%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068312" y="3566160"/>
            <a:ext cx="1417320" cy="493776"/>
          </a:xfrm>
          <a:prstGeom prst="rect">
            <a:avLst/>
          </a:prstGeom>
          <a:solidFill>
            <a:srgbClr val="E9EC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114032" y="3602736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66.6%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485632" y="3566160"/>
            <a:ext cx="2103120" cy="493776"/>
          </a:xfrm>
          <a:prstGeom prst="rect">
            <a:avLst/>
          </a:prstGeom>
          <a:solidFill>
            <a:srgbClr val="E9EC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531352" y="360273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  <a:latin typeface="Calibri"/>
              </a:rPr>
              <a:t>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56032" y="4169663"/>
            <a:ext cx="11612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56032" y="4169663"/>
            <a:ext cx="11612880" cy="54864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11480" y="42702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A5E"/>
                </a:solidFill>
                <a:latin typeface="Calibri"/>
              </a:rPr>
              <a:t>Key Insight: Portfolio Risk Budget is Vastly Under-Utilised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1480" y="4681728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• The 0.66% portfolio default rate is 7.5× below the 5% LP constraint — the optimiser is inherently conservative.</a:t>
            </a:r>
          </a:p>
          <a:p>
            <a:pPr algn="l">
              <a:lnSpc>
                <a:spcPts val="18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• The 9× gap between Excellent (0.17%) and Poor (1.54%) default rates validates the four-tier segmentation as meaningful risk differentiation.</a:t>
            </a:r>
          </a:p>
          <a:p>
            <a:pPr algn="l">
              <a:lnSpc>
                <a:spcPts val="1800"/>
              </a:lnSpc>
            </a:pPr>
            <a:r>
              <a:rPr sz="1100" b="0">
                <a:solidFill>
                  <a:srgbClr val="222222"/>
                </a:solidFill>
                <a:latin typeface="Calibri"/>
              </a:rPr>
              <a:t>• Good-tier accounts drive the largest absolute profit ($539K) despite lower per-customer yield than Excellent — volume matters.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Credit Limit Extension | Lifecycle Simulation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144000" y="65562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  <a:latin typeface="Calibri"/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Customer Behaviour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Acceptance patterns, repayment outcomes, and behavioural archetypes</a:t>
            </a:r>
          </a:p>
        </p:txBody>
      </p:sp>
      <p:pic>
        <p:nvPicPr>
          <p:cNvPr id="6" name="Picture 5" descr="lc_biz_02_behavi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64008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66560" y="1051560"/>
            <a:ext cx="516636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11556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3A5E"/>
                </a:solidFill>
                <a:latin typeface="Calibri"/>
              </a:rPr>
              <a:t>Four Behavioural Archetypes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572768"/>
            <a:ext cx="109728" cy="100584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609344"/>
            <a:ext cx="4709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F37"/>
                </a:solidFill>
                <a:latin typeface="Calibri"/>
              </a:rPr>
              <a:t>Reliable Repayer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911096"/>
            <a:ext cx="4709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580"/>
                </a:solidFill>
                <a:latin typeface="Calibri"/>
              </a:rPr>
              <a:t>Exc / upper-Good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121408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Accepts most offers, repays consistently. Stable and predictable. Retention risk: competitor offers. → Every-campaign eligibility.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2651760"/>
            <a:ext cx="109728" cy="1005840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2688336"/>
            <a:ext cx="4709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A44E"/>
                </a:solidFill>
                <a:latin typeface="Calibri"/>
              </a:rPr>
              <a:t>Upward Mover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990088"/>
            <a:ext cx="4709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580"/>
                </a:solidFill>
                <a:latin typeface="Calibri"/>
              </a:rPr>
              <a:t>lower-Good / upper-Fair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200400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Consistent improvement via on-time repayments. Highest credit-improvement ROI. → Regular offers, track migration velocity monthly.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3730752"/>
            <a:ext cx="109728" cy="100584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3767328"/>
            <a:ext cx="4709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B731"/>
                </a:solidFill>
                <a:latin typeface="Calibri"/>
              </a:rPr>
              <a:t>Slow Recoverer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069080"/>
            <a:ext cx="4709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580"/>
                </a:solidFill>
                <a:latin typeface="Calibri"/>
              </a:rPr>
              <a:t>lower-Fair / upper-Poor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279392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Progress but at slower pace — often recovering from one adverse event. → Every-other-campaign; monitor completion trends.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4809744"/>
            <a:ext cx="109728" cy="1005840"/>
          </a:xfrm>
          <a:prstGeom prst="rect">
            <a:avLst/>
          </a:prstGeom>
          <a:solidFill>
            <a:srgbClr val="E03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4846320"/>
            <a:ext cx="4709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3131"/>
                </a:solidFill>
                <a:latin typeface="Calibri"/>
              </a:rPr>
              <a:t>Persistent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5148072"/>
            <a:ext cx="4709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580"/>
                </a:solidFill>
                <a:latin typeface="Calibri"/>
              </a:rPr>
              <a:t>lower-Poor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5358384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Calibri"/>
              </a:rPr>
              <a:t>Remains Poor despite offers. Low completion, no benefit from extensions. → Freeze offers; route to credit counselling.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Credit Limit Extension | Lifecycle Simulation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5562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  <a:latin typeface="Calibri"/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Credit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How the portfolio quality evolves over 12 months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508760" cy="50292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Start → 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20" y="1188720"/>
            <a:ext cx="1508760" cy="50292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20" y="118872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Excellent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188720"/>
            <a:ext cx="1508760" cy="502920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18872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Good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1188720"/>
            <a:ext cx="1508760" cy="50292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118872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Fair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188720"/>
            <a:ext cx="1508760" cy="502920"/>
          </a:xfrm>
          <a:prstGeom prst="rect">
            <a:avLst/>
          </a:prstGeom>
          <a:solidFill>
            <a:srgbClr val="E03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18872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691640"/>
            <a:ext cx="1508760" cy="50292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69164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Excellent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20" y="1691640"/>
            <a:ext cx="1508760" cy="502920"/>
          </a:xfrm>
          <a:prstGeom prst="rect">
            <a:avLst/>
          </a:prstGeom>
          <a:solidFill>
            <a:srgbClr val="D3F5D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20" y="169164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7F37"/>
                </a:solidFill>
                <a:latin typeface="Calibri"/>
              </a:rPr>
              <a:t>99.5%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1691640"/>
            <a:ext cx="1508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169164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  <a:latin typeface="Calibri"/>
              </a:rPr>
              <a:t>0.2%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92040" y="1691640"/>
            <a:ext cx="1508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169164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  <a:latin typeface="Calibri"/>
              </a:rPr>
              <a:t>0.2%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691640"/>
            <a:ext cx="1508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69164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  <a:latin typeface="Calibri"/>
              </a:rPr>
              <a:t>0.1%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194560"/>
            <a:ext cx="1508760" cy="502920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19456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Good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74520" y="2194560"/>
            <a:ext cx="1508760" cy="502920"/>
          </a:xfrm>
          <a:prstGeom prst="rect">
            <a:avLst/>
          </a:prstGeom>
          <a:solidFill>
            <a:srgbClr val="D3F5D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74520" y="219456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7F37"/>
                </a:solidFill>
                <a:latin typeface="Calibri"/>
              </a:rPr>
              <a:t>81.8%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2194560"/>
            <a:ext cx="1508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219456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  <a:latin typeface="Calibri"/>
              </a:rPr>
              <a:t>17.1%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92040" y="2194560"/>
            <a:ext cx="1508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219456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  <a:latin typeface="Calibri"/>
              </a:rPr>
              <a:t>0.4%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194560"/>
            <a:ext cx="1508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219456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  <a:latin typeface="Calibri"/>
              </a:rPr>
              <a:t>0.7%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697480"/>
            <a:ext cx="1508760" cy="50292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269748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Fair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74520" y="2697480"/>
            <a:ext cx="1508760" cy="502920"/>
          </a:xfrm>
          <a:prstGeom prst="rect">
            <a:avLst/>
          </a:prstGeom>
          <a:solidFill>
            <a:srgbClr val="D3F5D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74520" y="269748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7F37"/>
                </a:solidFill>
                <a:latin typeface="Calibri"/>
              </a:rPr>
              <a:t>31.8%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80" y="2697480"/>
            <a:ext cx="1508760" cy="502920"/>
          </a:xfrm>
          <a:prstGeom prst="rect">
            <a:avLst/>
          </a:prstGeom>
          <a:solidFill>
            <a:srgbClr val="CFF0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83280" y="269748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DA44E"/>
                </a:solidFill>
                <a:latin typeface="Calibri"/>
              </a:rPr>
              <a:t>52.0%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92040" y="2697480"/>
            <a:ext cx="1508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92040" y="269748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  <a:latin typeface="Calibri"/>
              </a:rPr>
              <a:t>14.1%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2697480"/>
            <a:ext cx="1508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269748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  <a:latin typeface="Calibri"/>
              </a:rPr>
              <a:t>2.0%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200400"/>
            <a:ext cx="1508760" cy="502920"/>
          </a:xfrm>
          <a:prstGeom prst="rect">
            <a:avLst/>
          </a:prstGeom>
          <a:solidFill>
            <a:srgbClr val="E03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320040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74520" y="3200400"/>
            <a:ext cx="1508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74520" y="320040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  <a:latin typeface="Calibri"/>
              </a:rPr>
              <a:t>0.9%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83280" y="3200400"/>
            <a:ext cx="1508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83280" y="320040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  <a:latin typeface="Calibri"/>
              </a:rPr>
              <a:t>30.6%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92040" y="3200400"/>
            <a:ext cx="1508760" cy="502920"/>
          </a:xfrm>
          <a:prstGeom prst="rect">
            <a:avLst/>
          </a:prstGeom>
          <a:solidFill>
            <a:srgbClr val="FFF3B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92040" y="320040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7B731"/>
                </a:solidFill>
                <a:latin typeface="Calibri"/>
              </a:rPr>
              <a:t>40.2%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3200400"/>
            <a:ext cx="1508760" cy="502920"/>
          </a:xfrm>
          <a:prstGeom prst="rect">
            <a:avLst/>
          </a:prstGeom>
          <a:solidFill>
            <a:srgbClr val="FFD8D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320040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03131"/>
                </a:solidFill>
                <a:latin typeface="Calibri"/>
              </a:rPr>
              <a:t>28.3%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37760" y="2542032"/>
            <a:ext cx="6858000" cy="36576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47488" y="2615184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A44E"/>
                </a:solidFill>
                <a:latin typeface="Calibri"/>
              </a:rPr>
              <a:t>Good → Excellent
81.8%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47488" y="3017520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The dominant upgrade pathway.
Compounding on-time boosts drive
majority across threshold in 4–6 months.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37760" y="3657600"/>
            <a:ext cx="6858000" cy="36576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47488" y="3730752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B731"/>
                </a:solidFill>
                <a:latin typeface="Calibri"/>
              </a:rPr>
              <a:t>Fair → Good / Excellent
83.8%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47488" y="4133088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Fair is a transition state, not steady.
The programme is a credit
rehabilitation pathway.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37760" y="4754880"/>
            <a:ext cx="6858000" cy="36576"/>
          </a:xfrm>
          <a:prstGeom prst="rect">
            <a:avLst/>
          </a:prstGeom>
          <a:solidFill>
            <a:srgbClr val="E03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47488" y="4828032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3131"/>
                </a:solidFill>
                <a:latin typeface="Calibri"/>
              </a:rPr>
              <a:t>Poor: three-way split
28.3% remain Poor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47488" y="5230368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30.6% → Good (recoverable)
40.2% → Fair (slow improvers)
28.3% stay Poor (freeze offers)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Credit Limit Extension | Lifecycle Simulation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0" y="65562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  <a:latin typeface="Calibri"/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Risk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Default rates, LP constraint utilisation, and stress resilience</a:t>
            </a:r>
          </a:p>
        </p:txBody>
      </p:sp>
      <p:pic>
        <p:nvPicPr>
          <p:cNvPr id="6" name="Picture 5" descr="lc_biz_03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64008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66560" y="1051560"/>
            <a:ext cx="516636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11556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3A5E"/>
                </a:solidFill>
                <a:latin typeface="Calibri"/>
              </a:rPr>
              <a:t>Risk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627632"/>
            <a:ext cx="1005840" cy="77724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66420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0.66%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719072"/>
            <a:ext cx="3886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Portfolio Default Rate
(5% LP hard cap — 7.5× headroom)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542032"/>
            <a:ext cx="1005840" cy="77724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57860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0.99%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633472"/>
            <a:ext cx="3886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Peak Campaign Risk
(Month 1 — never exceeded since)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3456432"/>
            <a:ext cx="1005840" cy="777240"/>
          </a:xfrm>
          <a:prstGeom prst="rect">
            <a:avLst/>
          </a:prstGeom>
          <a:solidFill>
            <a:srgbClr val="7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49300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$707K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547872"/>
            <a:ext cx="3886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Total Credit Losses
($2.12M revenue → 66.6% margin)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4462272"/>
            <a:ext cx="4937760" cy="27432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45994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A5E"/>
                </a:solidFill>
                <a:latin typeface="Calibri"/>
              </a:rPr>
              <a:t>Stress Test Resilience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4992624"/>
            <a:ext cx="777240" cy="438912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4992624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Stress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4992624"/>
            <a:ext cx="1188720" cy="438912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4992624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23960" y="4992624"/>
            <a:ext cx="1325880" cy="438912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4992624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Net Profit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49840" y="4992624"/>
            <a:ext cx="1508760" cy="438912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4992624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5431536"/>
            <a:ext cx="777240" cy="438912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5431536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1.0×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35240" y="5431536"/>
            <a:ext cx="1188720" cy="438912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5240" y="5431536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Baseline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23960" y="5431536"/>
            <a:ext cx="1325880" cy="438912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60" y="5431536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$1,411K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49840" y="5431536"/>
            <a:ext cx="1508760" cy="438912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9840" y="5431536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7F37"/>
                </a:solidFill>
                <a:latin typeface="Calibri"/>
              </a:rPr>
              <a:t>✓ Profitable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870448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5870448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2.0×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35240" y="5870448"/>
            <a:ext cx="1188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35240" y="5870448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Moderate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23960" y="5870448"/>
            <a:ext cx="1325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23960" y="5870448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$714K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49840" y="5870448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49840" y="5870448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7F37"/>
                </a:solidFill>
                <a:latin typeface="Calibri"/>
              </a:rPr>
              <a:t>✓ Profitable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0" y="6309360"/>
            <a:ext cx="777240" cy="438912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0" y="6309360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3.5×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35240" y="6309360"/>
            <a:ext cx="1188720" cy="438912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35240" y="6309360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Severe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23960" y="6309360"/>
            <a:ext cx="1325880" cy="438912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23960" y="6309360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$26K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49840" y="6309360"/>
            <a:ext cx="1508760" cy="438912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49840" y="6309360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7F37"/>
                </a:solidFill>
                <a:latin typeface="Calibri"/>
              </a:rPr>
              <a:t>✓ Breakeven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0" y="6748272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0" y="6748272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5.0×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35240" y="6748272"/>
            <a:ext cx="1188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35240" y="6748272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Extreme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23960" y="6748272"/>
            <a:ext cx="1325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23960" y="6748272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Calibri"/>
              </a:rPr>
              <a:t>−$648K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149840" y="6748272"/>
            <a:ext cx="1508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49840" y="6748272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3131"/>
                </a:solidFill>
                <a:latin typeface="Calibri"/>
              </a:rPr>
              <a:t>✗ Loss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Credit Limit Extension | Lifecycle Simulation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65562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  <a:latin typeface="Calibri"/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Sensitivity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Which parameter levers move the dial — and by how much</a:t>
            </a:r>
          </a:p>
        </p:txBody>
      </p:sp>
      <p:pic>
        <p:nvPicPr>
          <p:cNvPr id="6" name="Picture 5" descr="lc_viz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7315200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26679" y="1051560"/>
            <a:ext cx="420624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115568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3A5E"/>
                </a:solidFill>
                <a:latin typeface="Calibri"/>
              </a:rPr>
              <a:t>Key Findings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1600200"/>
            <a:ext cx="91440" cy="123444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645920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7F37"/>
                </a:solidFill>
                <a:latin typeface="Calibri"/>
              </a:rPr>
              <a:t>On-Time Boost is the Dominant Lever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039112"/>
            <a:ext cx="3794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+5.0pp moves 19.2pp more customers to Excellent (43% → 62%). But profit peaks at 2.0pp — higher boosts over-promote customers, shrinking the eligible pool and reducing revenue.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3017520"/>
            <a:ext cx="91440" cy="123444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3063240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C3A5E"/>
                </a:solidFill>
                <a:latin typeface="Calibri"/>
              </a:rPr>
              <a:t>Recommended: 2.0pp / 10pp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456432"/>
            <a:ext cx="3794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Balances profit ($690K sub-run), quality improvement (49.2% Excellent), and controlled default rate (0.62%). This is the baseline configuration.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4434840"/>
            <a:ext cx="91440" cy="123444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4480560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7B731"/>
                </a:solidFill>
                <a:latin typeface="Calibri"/>
              </a:rPr>
              <a:t>Default Penalty is Second-Order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4873752"/>
            <a:ext cx="3794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  <a:latin typeface="Calibri"/>
              </a:rPr>
              <a:t>Variance across 5/10/20pp settings is &lt; 1% of total profit. Primary effect: faster exit from Poor tier. 10pp avoids cliff-edge dynamics.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Credit Limit Extension | Lifecycle Simulation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65562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  <a:latin typeface="Calibri"/>
              </a:rP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Tier Strategy &amp; Policy Decision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Recommended offer cadence, limit sizing, and approval logic by tier</a:t>
            </a:r>
          </a:p>
        </p:txBody>
      </p:sp>
      <p:pic>
        <p:nvPicPr>
          <p:cNvPr id="6" name="Picture 5" descr="lc_biz_04_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6400800" cy="4754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66560" y="1207008"/>
            <a:ext cx="1234440" cy="530352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207008"/>
            <a:ext cx="1234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1207008"/>
            <a:ext cx="1325880" cy="530352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207008"/>
            <a:ext cx="1325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Offer Cadence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1207008"/>
            <a:ext cx="1371600" cy="530352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1207008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Limit Increase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98480" y="1207008"/>
            <a:ext cx="1280160" cy="530352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1207008"/>
            <a:ext cx="1280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Priority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978640" y="1207008"/>
            <a:ext cx="1051560" cy="530352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0" y="1207008"/>
            <a:ext cx="1051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KPI to Track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1737360"/>
            <a:ext cx="1234440" cy="530352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1737360"/>
            <a:ext cx="1234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Excellent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1737360"/>
            <a:ext cx="1325880" cy="530352"/>
          </a:xfrm>
          <a:prstGeom prst="rect">
            <a:avLst/>
          </a:prstGeom>
          <a:solidFill>
            <a:srgbClr val="D3F5D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79222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Every campaign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1737360"/>
            <a:ext cx="1371600" cy="530352"/>
          </a:xfrm>
          <a:prstGeom prst="rect">
            <a:avLst/>
          </a:prstGeom>
          <a:solidFill>
            <a:srgbClr val="D3F5D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1744" y="179222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+20–25%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98480" y="1737360"/>
            <a:ext cx="1280160" cy="530352"/>
          </a:xfrm>
          <a:prstGeom prst="rect">
            <a:avLst/>
          </a:prstGeom>
          <a:solidFill>
            <a:srgbClr val="D3F5D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53344" y="179222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Maximum volume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978640" y="1737360"/>
            <a:ext cx="1051560" cy="530352"/>
          </a:xfrm>
          <a:prstGeom prst="rect">
            <a:avLst/>
          </a:prstGeom>
          <a:solidFill>
            <a:srgbClr val="D3F5D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33504" y="1792224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Retention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2267712"/>
            <a:ext cx="1234440" cy="530352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2267712"/>
            <a:ext cx="1234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Good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2267712"/>
            <a:ext cx="1325880" cy="530352"/>
          </a:xfrm>
          <a:prstGeom prst="rect">
            <a:avLst/>
          </a:prstGeom>
          <a:solidFill>
            <a:srgbClr val="CFF0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55864" y="2322576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Every campaign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2267712"/>
            <a:ext cx="1371600" cy="530352"/>
          </a:xfrm>
          <a:prstGeom prst="rect">
            <a:avLst/>
          </a:prstGeom>
          <a:solidFill>
            <a:srgbClr val="CFF0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81744" y="232257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+15–20%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98480" y="2267712"/>
            <a:ext cx="1280160" cy="530352"/>
          </a:xfrm>
          <a:prstGeom prst="rect">
            <a:avLst/>
          </a:prstGeom>
          <a:solidFill>
            <a:srgbClr val="CFF0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53344" y="232257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Standard approval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978640" y="2267712"/>
            <a:ext cx="1051560" cy="530352"/>
          </a:xfrm>
          <a:prstGeom prst="rect">
            <a:avLst/>
          </a:prstGeom>
          <a:solidFill>
            <a:srgbClr val="CFF0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033504" y="2322576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Migration to Exc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66560" y="2798064"/>
            <a:ext cx="1234440" cy="530352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0" y="2798064"/>
            <a:ext cx="1234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Fair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2798064"/>
            <a:ext cx="1325880" cy="530352"/>
          </a:xfrm>
          <a:prstGeom prst="rect">
            <a:avLst/>
          </a:prstGeom>
          <a:solidFill>
            <a:srgbClr val="FFF3B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55864" y="285292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Every 2nd campaign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26880" y="2798064"/>
            <a:ext cx="1371600" cy="530352"/>
          </a:xfrm>
          <a:prstGeom prst="rect">
            <a:avLst/>
          </a:prstGeom>
          <a:solidFill>
            <a:srgbClr val="FFF3B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81744" y="285292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+10–15%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698480" y="2798064"/>
            <a:ext cx="1280160" cy="530352"/>
          </a:xfrm>
          <a:prstGeom prst="rect">
            <a:avLst/>
          </a:prstGeom>
          <a:solidFill>
            <a:srgbClr val="FFF3B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753344" y="285292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Selective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978640" y="2798064"/>
            <a:ext cx="1051560" cy="530352"/>
          </a:xfrm>
          <a:prstGeom prst="rect">
            <a:avLst/>
          </a:prstGeom>
          <a:solidFill>
            <a:srgbClr val="FFF3B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033504" y="2852928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Migration velocity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66560" y="3328416"/>
            <a:ext cx="1234440" cy="530352"/>
          </a:xfrm>
          <a:prstGeom prst="rect">
            <a:avLst/>
          </a:prstGeom>
          <a:solidFill>
            <a:srgbClr val="E03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0" y="3328416"/>
            <a:ext cx="1234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01000" y="3328416"/>
            <a:ext cx="1325880" cy="530352"/>
          </a:xfrm>
          <a:prstGeom prst="rect">
            <a:avLst/>
          </a:prstGeom>
          <a:solidFill>
            <a:srgbClr val="FFD8D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55864" y="338328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Every 3rd campaign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26880" y="3328416"/>
            <a:ext cx="1371600" cy="530352"/>
          </a:xfrm>
          <a:prstGeom prst="rect">
            <a:avLst/>
          </a:prstGeom>
          <a:solidFill>
            <a:srgbClr val="FFD8D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81744" y="33832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+5–10%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698480" y="3328416"/>
            <a:ext cx="1280160" cy="530352"/>
          </a:xfrm>
          <a:prstGeom prst="rect">
            <a:avLst/>
          </a:prstGeom>
          <a:solidFill>
            <a:srgbClr val="FFD8D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53344" y="33832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Enhanced review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978640" y="3328416"/>
            <a:ext cx="1051560" cy="530352"/>
          </a:xfrm>
          <a:prstGeom prst="rect">
            <a:avLst/>
          </a:prstGeom>
          <a:solidFill>
            <a:srgbClr val="FFD8D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033504" y="338328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Completion rate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66560" y="4370832"/>
            <a:ext cx="5120640" cy="960120"/>
          </a:xfrm>
          <a:prstGeom prst="rect">
            <a:avLst/>
          </a:prstGeom>
          <a:solidFill>
            <a:srgbClr val="D3F5DB"/>
          </a:solidFill>
          <a:ln w="1905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03720" y="4462272"/>
            <a:ext cx="4846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D4A1E"/>
                </a:solidFill>
                <a:latin typeface="Calibri"/>
              </a:rPr>
              <a:t>Risk Budget Status: 0.66% realised vs 5.0% cap — 7.5× headroom.
Room to expand Good/Excellent volume without constraint violations.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Credit Limit Extension | Lifecycle Simulation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0" y="65562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  <a:latin typeface="Calibri"/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Operational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Calibri"/>
              </a:rPr>
              <a:t>Prioritised implementation across three horizons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143000"/>
            <a:ext cx="384048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143000"/>
            <a:ext cx="3840480" cy="77724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Immediate
(Config Changes)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2185416"/>
            <a:ext cx="164592" cy="164592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Set on-time boost to 2.0pp and default penalty to 10pp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" y="3209544"/>
            <a:ext cx="164592" cy="164592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99816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Retain 5% risk cap; operational target 2–3%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" y="4233672"/>
            <a:ext cx="164592" cy="164592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23944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Raise extension fee: $40 → $48 (+$180K revenue, zero risk)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" y="5257800"/>
            <a:ext cx="164592" cy="164592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48072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Maintain 60-day eligibility gate as primary quality filter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143000"/>
            <a:ext cx="384048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0" y="1143000"/>
            <a:ext cx="3840480" cy="77724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5968" y="1234440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Near-Term
(Model Adjustments)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2185416"/>
            <a:ext cx="164592" cy="164592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2075688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Tiered offer cadences: Exc/Good monthly, Fair bi-monthly, Poor quarterly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209544"/>
            <a:ext cx="164592" cy="164592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3099816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Tiered limit increases: 5–25% by tier (vs flat today)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4233672"/>
            <a:ext cx="164592" cy="164592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4123944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Expand exposure cap $500M → $650M (current utilisation &lt; 10%)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5257800"/>
            <a:ext cx="164592" cy="164592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0288" y="5148072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Quarterly re-scoring minimum (annual lags actual risk movement)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56448" y="1143000"/>
            <a:ext cx="384048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4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56448" y="1143000"/>
            <a:ext cx="3840480" cy="777240"/>
          </a:xfrm>
          <a:prstGeom prst="rect">
            <a:avLst/>
          </a:prstGeom>
          <a:solidFill>
            <a:srgbClr val="2C4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66176" y="1234440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Strategic
(Risk Management)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93608" y="2185416"/>
            <a:ext cx="164592" cy="164592"/>
          </a:xfrm>
          <a:prstGeom prst="rect">
            <a:avLst/>
          </a:prstGeom>
          <a:solidFill>
            <a:srgbClr val="2C4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0496" y="2075688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Re-calibrate LP cap: 2–3% operational target, 5% hard ceiling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93608" y="3209544"/>
            <a:ext cx="164592" cy="164592"/>
          </a:xfrm>
          <a:prstGeom prst="rect">
            <a:avLst/>
          </a:prstGeom>
          <a:solidFill>
            <a:srgbClr val="2C4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0496" y="3099816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Automate LP re-optimisation; manual overrides require documented approval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93608" y="4233672"/>
            <a:ext cx="164592" cy="164592"/>
          </a:xfrm>
          <a:prstGeom prst="rect">
            <a:avLst/>
          </a:prstGeom>
          <a:solidFill>
            <a:srgbClr val="2C4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0496" y="4123944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Segment Poor into 3 sub-groups with distinct offer logic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93608" y="5257800"/>
            <a:ext cx="164592" cy="164592"/>
          </a:xfrm>
          <a:prstGeom prst="rect">
            <a:avLst/>
          </a:prstGeom>
          <a:solidFill>
            <a:srgbClr val="2C4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0496" y="5148072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FRED API macro threshold alerts → pre-emptive exposure reduction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  <a:latin typeface="Calibri"/>
              </a:rPr>
              <a:t>Credit Limit Extension | Lifecycle Simulation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65562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C4DE"/>
                </a:solidFill>
                <a:latin typeface="Calibri"/>
              </a:rP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88952" cy="54864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Takeaways for the CRO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02920" cy="50292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3A5E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801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F37"/>
                </a:solidFill>
                <a:latin typeface="Calibri"/>
              </a:rPr>
              <a:t>The programme is profitable and risk-safe.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0934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  <a:latin typeface="Calibri"/>
              </a:rPr>
              <a:t>$1.41M net profit at 0.66% default rate — 7.5× below the LP cap. Risk headroom is not being consumed; it is being preserved as a structural buffer.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94560"/>
            <a:ext cx="502920" cy="502920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194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3A5E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945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A44E"/>
                </a:solidFill>
                <a:latin typeface="Calibri"/>
              </a:rPr>
              <a:t>Credit quality self-improves at no additional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2374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  <a:latin typeface="Calibri"/>
              </a:rPr>
              <a:t>83.8% of Fair customers and 81.8% of Good customers migrate upward within 12 months. Each on-time repayment compounding through the re-scoring mechanism does the 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08960"/>
            <a:ext cx="502920" cy="50292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108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3A5E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089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B731"/>
                </a:solidFill>
                <a:latin typeface="Calibri"/>
              </a:rPr>
              <a:t>The on-time boost (2.0pp) is the single most powerful lever.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3814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  <a:latin typeface="Calibri"/>
              </a:rPr>
              <a:t>Higher boosts promote customers too quickly, shrinking the offer pool and reducing revenue. 2.0pp balances credit improvement velocity with sustainable offer volume.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23360"/>
            <a:ext cx="502920" cy="502920"/>
          </a:xfrm>
          <a:prstGeom prst="rect">
            <a:avLst/>
          </a:prstGeom>
          <a:solidFill>
            <a:srgbClr val="E03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023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3A5E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023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3131"/>
                </a:solidFill>
                <a:latin typeface="Calibri"/>
              </a:rPr>
              <a:t>Poor is not monolithic — three sub-groups require different treatment.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35254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  <a:latin typeface="Calibri"/>
              </a:rPr>
              <a:t>30.6% are recoverable (offer normally), 40.2% are slow improvers (bi-monthly offers), 28.3% are persistent risk (freeze offers, redirect to counselling).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9377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937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3A5E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9377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Immediate action: raise the fee to $48.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266944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  <a:latin typeface="Calibri"/>
              </a:rPr>
              <a:t>No model changes, no risk increase. Revenue scales linearly; first denial threshold is $52 — there is a $4 buffer before any approval changes.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580"/>
                </a:solidFill>
                <a:latin typeface="Calibri"/>
              </a:rPr>
              <a:t>Credit Limit Extension | Lifecycle Simulation  ·  May 2026  ·  Branch: term_ext_lifecycle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